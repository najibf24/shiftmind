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7"/>
  </p:notesMasterIdLst>
  <p:sldIdLst>
    <p:sldId id="323" r:id="rId2"/>
    <p:sldId id="322" r:id="rId3"/>
    <p:sldId id="324" r:id="rId4"/>
    <p:sldId id="325" r:id="rId5"/>
    <p:sldId id="326" r:id="rId6"/>
  </p:sldIdLst>
  <p:sldSz cx="9144000" cy="5143500" type="screen16x9"/>
  <p:notesSz cx="6858000" cy="9144000"/>
  <p:embeddedFontLst>
    <p:embeddedFont>
      <p:font typeface="Inter" panose="020B0604020202020204" charset="0"/>
      <p:regular r:id="rId8"/>
      <p:bold r:id="rId9"/>
      <p:italic r:id="rId10"/>
      <p:boldItalic r:id="rId11"/>
    </p:embeddedFont>
    <p:embeddedFont>
      <p:font typeface="Inter SemiBold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7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jib Fauzan" userId="54b7f98b-b9eb-4239-b16a-ca4516cd1d27" providerId="ADAL" clId="{8760DB19-FAC0-45EB-BF1D-02BF9CFF1B96}"/>
    <pc:docChg chg="undo custSel addSld delSld modSld">
      <pc:chgData name="Najib Fauzan" userId="54b7f98b-b9eb-4239-b16a-ca4516cd1d27" providerId="ADAL" clId="{8760DB19-FAC0-45EB-BF1D-02BF9CFF1B96}" dt="2026-06-12T01:40:00.439" v="219" actId="27636"/>
      <pc:docMkLst>
        <pc:docMk/>
      </pc:docMkLst>
      <pc:sldChg chg="addSp delSp modSp mod">
        <pc:chgData name="Najib Fauzan" userId="54b7f98b-b9eb-4239-b16a-ca4516cd1d27" providerId="ADAL" clId="{8760DB19-FAC0-45EB-BF1D-02BF9CFF1B96}" dt="2026-06-12T01:35:31.835" v="196" actId="14100"/>
        <pc:sldMkLst>
          <pc:docMk/>
          <pc:sldMk cId="0" sldId="322"/>
        </pc:sldMkLst>
        <pc:spChg chg="mod">
          <ac:chgData name="Najib Fauzan" userId="54b7f98b-b9eb-4239-b16a-ca4516cd1d27" providerId="ADAL" clId="{8760DB19-FAC0-45EB-BF1D-02BF9CFF1B96}" dt="2026-06-12T01:35:31.835" v="196" actId="14100"/>
          <ac:spMkLst>
            <pc:docMk/>
            <pc:sldMk cId="0" sldId="322"/>
            <ac:spMk id="2" creationId="{00000000-0000-0000-0000-000000000000}"/>
          </ac:spMkLst>
        </pc:spChg>
        <pc:spChg chg="mod">
          <ac:chgData name="Najib Fauzan" userId="54b7f98b-b9eb-4239-b16a-ca4516cd1d27" providerId="ADAL" clId="{8760DB19-FAC0-45EB-BF1D-02BF9CFF1B96}" dt="2026-06-12T01:34:56.038" v="192" actId="1076"/>
          <ac:spMkLst>
            <pc:docMk/>
            <pc:sldMk cId="0" sldId="322"/>
            <ac:spMk id="5" creationId="{00000000-0000-0000-0000-000000000000}"/>
          </ac:spMkLst>
        </pc:spChg>
        <pc:spChg chg="mod">
          <ac:chgData name="Najib Fauzan" userId="54b7f98b-b9eb-4239-b16a-ca4516cd1d27" providerId="ADAL" clId="{8760DB19-FAC0-45EB-BF1D-02BF9CFF1B96}" dt="2026-06-12T01:34:56.038" v="192" actId="1076"/>
          <ac:spMkLst>
            <pc:docMk/>
            <pc:sldMk cId="0" sldId="322"/>
            <ac:spMk id="6" creationId="{00000000-0000-0000-0000-000000000000}"/>
          </ac:spMkLst>
        </pc:spChg>
        <pc:spChg chg="mod">
          <ac:chgData name="Najib Fauzan" userId="54b7f98b-b9eb-4239-b16a-ca4516cd1d27" providerId="ADAL" clId="{8760DB19-FAC0-45EB-BF1D-02BF9CFF1B96}" dt="2026-06-12T01:34:56.038" v="192" actId="1076"/>
          <ac:spMkLst>
            <pc:docMk/>
            <pc:sldMk cId="0" sldId="322"/>
            <ac:spMk id="7" creationId="{00000000-0000-0000-0000-000000000000}"/>
          </ac:spMkLst>
        </pc:spChg>
        <pc:spChg chg="mod">
          <ac:chgData name="Najib Fauzan" userId="54b7f98b-b9eb-4239-b16a-ca4516cd1d27" providerId="ADAL" clId="{8760DB19-FAC0-45EB-BF1D-02BF9CFF1B96}" dt="2026-06-12T01:35:22.327" v="195" actId="1076"/>
          <ac:spMkLst>
            <pc:docMk/>
            <pc:sldMk cId="0" sldId="322"/>
            <ac:spMk id="8" creationId="{00000000-0000-0000-0000-000000000000}"/>
          </ac:spMkLst>
        </pc:spChg>
        <pc:spChg chg="mod">
          <ac:chgData name="Najib Fauzan" userId="54b7f98b-b9eb-4239-b16a-ca4516cd1d27" providerId="ADAL" clId="{8760DB19-FAC0-45EB-BF1D-02BF9CFF1B96}" dt="2026-06-12T01:35:22.327" v="195" actId="1076"/>
          <ac:spMkLst>
            <pc:docMk/>
            <pc:sldMk cId="0" sldId="322"/>
            <ac:spMk id="9" creationId="{00000000-0000-0000-0000-000000000000}"/>
          </ac:spMkLst>
        </pc:spChg>
        <pc:spChg chg="del mod">
          <ac:chgData name="Najib Fauzan" userId="54b7f98b-b9eb-4239-b16a-ca4516cd1d27" providerId="ADAL" clId="{8760DB19-FAC0-45EB-BF1D-02BF9CFF1B96}" dt="2026-06-12T01:35:01.194" v="193" actId="1076"/>
          <ac:spMkLst>
            <pc:docMk/>
            <pc:sldMk cId="0" sldId="322"/>
            <ac:spMk id="10" creationId="{00000000-0000-0000-0000-000000000000}"/>
          </ac:spMkLst>
        </pc:spChg>
      </pc:sldChg>
      <pc:sldChg chg="modSp mod">
        <pc:chgData name="Najib Fauzan" userId="54b7f98b-b9eb-4239-b16a-ca4516cd1d27" providerId="ADAL" clId="{8760DB19-FAC0-45EB-BF1D-02BF9CFF1B96}" dt="2026-06-12T01:39:00.566" v="207" actId="27636"/>
        <pc:sldMkLst>
          <pc:docMk/>
          <pc:sldMk cId="0" sldId="324"/>
        </pc:sldMkLst>
        <pc:spChg chg="mod">
          <ac:chgData name="Najib Fauzan" userId="54b7f98b-b9eb-4239-b16a-ca4516cd1d27" providerId="ADAL" clId="{8760DB19-FAC0-45EB-BF1D-02BF9CFF1B96}" dt="2026-06-12T01:35:54.457" v="202" actId="14100"/>
          <ac:spMkLst>
            <pc:docMk/>
            <pc:sldMk cId="0" sldId="324"/>
            <ac:spMk id="2" creationId="{00000000-0000-0000-0000-000000000000}"/>
          </ac:spMkLst>
        </pc:spChg>
        <pc:spChg chg="mod">
          <ac:chgData name="Najib Fauzan" userId="54b7f98b-b9eb-4239-b16a-ca4516cd1d27" providerId="ADAL" clId="{8760DB19-FAC0-45EB-BF1D-02BF9CFF1B96}" dt="2026-06-12T01:38:49.034" v="203" actId="14100"/>
          <ac:spMkLst>
            <pc:docMk/>
            <pc:sldMk cId="0" sldId="324"/>
            <ac:spMk id="4" creationId="{00000000-0000-0000-0000-000000000000}"/>
          </ac:spMkLst>
        </pc:spChg>
        <pc:spChg chg="mod">
          <ac:chgData name="Najib Fauzan" userId="54b7f98b-b9eb-4239-b16a-ca4516cd1d27" providerId="ADAL" clId="{8760DB19-FAC0-45EB-BF1D-02BF9CFF1B96}" dt="2026-06-12T01:38:54.981" v="205" actId="27636"/>
          <ac:spMkLst>
            <pc:docMk/>
            <pc:sldMk cId="0" sldId="324"/>
            <ac:spMk id="5" creationId="{00000000-0000-0000-0000-000000000000}"/>
          </ac:spMkLst>
        </pc:spChg>
        <pc:spChg chg="mod">
          <ac:chgData name="Najib Fauzan" userId="54b7f98b-b9eb-4239-b16a-ca4516cd1d27" providerId="ADAL" clId="{8760DB19-FAC0-45EB-BF1D-02BF9CFF1B96}" dt="2026-06-12T01:39:00.566" v="207" actId="27636"/>
          <ac:spMkLst>
            <pc:docMk/>
            <pc:sldMk cId="0" sldId="324"/>
            <ac:spMk id="6" creationId="{00000000-0000-0000-0000-000000000000}"/>
          </ac:spMkLst>
        </pc:spChg>
        <pc:spChg chg="mod">
          <ac:chgData name="Najib Fauzan" userId="54b7f98b-b9eb-4239-b16a-ca4516cd1d27" providerId="ADAL" clId="{8760DB19-FAC0-45EB-BF1D-02BF9CFF1B96}" dt="2026-06-12T01:35:45.810" v="199" actId="27636"/>
          <ac:spMkLst>
            <pc:docMk/>
            <pc:sldMk cId="0" sldId="324"/>
            <ac:spMk id="7" creationId="{00000000-0000-0000-0000-000000000000}"/>
          </ac:spMkLst>
        </pc:spChg>
        <pc:spChg chg="mod">
          <ac:chgData name="Najib Fauzan" userId="54b7f98b-b9eb-4239-b16a-ca4516cd1d27" providerId="ADAL" clId="{8760DB19-FAC0-45EB-BF1D-02BF9CFF1B96}" dt="2026-06-12T01:35:45.810" v="200" actId="27636"/>
          <ac:spMkLst>
            <pc:docMk/>
            <pc:sldMk cId="0" sldId="324"/>
            <ac:spMk id="8" creationId="{00000000-0000-0000-0000-000000000000}"/>
          </ac:spMkLst>
        </pc:spChg>
        <pc:spChg chg="mod">
          <ac:chgData name="Najib Fauzan" userId="54b7f98b-b9eb-4239-b16a-ca4516cd1d27" providerId="ADAL" clId="{8760DB19-FAC0-45EB-BF1D-02BF9CFF1B96}" dt="2026-06-12T01:35:45.800" v="198" actId="27636"/>
          <ac:spMkLst>
            <pc:docMk/>
            <pc:sldMk cId="0" sldId="324"/>
            <ac:spMk id="9" creationId="{00000000-0000-0000-0000-000000000000}"/>
          </ac:spMkLst>
        </pc:spChg>
      </pc:sldChg>
      <pc:sldChg chg="modSp mod">
        <pc:chgData name="Najib Fauzan" userId="54b7f98b-b9eb-4239-b16a-ca4516cd1d27" providerId="ADAL" clId="{8760DB19-FAC0-45EB-BF1D-02BF9CFF1B96}" dt="2026-06-12T01:39:37.543" v="211" actId="14100"/>
        <pc:sldMkLst>
          <pc:docMk/>
          <pc:sldMk cId="0" sldId="325"/>
        </pc:sldMkLst>
        <pc:spChg chg="mod">
          <ac:chgData name="Najib Fauzan" userId="54b7f98b-b9eb-4239-b16a-ca4516cd1d27" providerId="ADAL" clId="{8760DB19-FAC0-45EB-BF1D-02BF9CFF1B96}" dt="2026-06-12T01:39:37.543" v="211" actId="14100"/>
          <ac:spMkLst>
            <pc:docMk/>
            <pc:sldMk cId="0" sldId="325"/>
            <ac:spMk id="2" creationId="{00000000-0000-0000-0000-000000000000}"/>
          </ac:spMkLst>
        </pc:spChg>
        <pc:spChg chg="mod">
          <ac:chgData name="Najib Fauzan" userId="54b7f98b-b9eb-4239-b16a-ca4516cd1d27" providerId="ADAL" clId="{8760DB19-FAC0-45EB-BF1D-02BF9CFF1B96}" dt="2026-06-12T01:39:20.150" v="209" actId="255"/>
          <ac:spMkLst>
            <pc:docMk/>
            <pc:sldMk cId="0" sldId="325"/>
            <ac:spMk id="3" creationId="{00000000-0000-0000-0000-000000000000}"/>
          </ac:spMkLst>
        </pc:spChg>
        <pc:spChg chg="mod">
          <ac:chgData name="Najib Fauzan" userId="54b7f98b-b9eb-4239-b16a-ca4516cd1d27" providerId="ADAL" clId="{8760DB19-FAC0-45EB-BF1D-02BF9CFF1B96}" dt="2026-06-12T01:39:29.535" v="210" actId="1076"/>
          <ac:spMkLst>
            <pc:docMk/>
            <pc:sldMk cId="0" sldId="325"/>
            <ac:spMk id="5" creationId="{00000000-0000-0000-0000-000000000000}"/>
          </ac:spMkLst>
        </pc:spChg>
        <pc:spChg chg="mod">
          <ac:chgData name="Najib Fauzan" userId="54b7f98b-b9eb-4239-b16a-ca4516cd1d27" providerId="ADAL" clId="{8760DB19-FAC0-45EB-BF1D-02BF9CFF1B96}" dt="2026-06-12T01:39:29.535" v="210" actId="1076"/>
          <ac:spMkLst>
            <pc:docMk/>
            <pc:sldMk cId="0" sldId="325"/>
            <ac:spMk id="6" creationId="{00000000-0000-0000-0000-000000000000}"/>
          </ac:spMkLst>
        </pc:spChg>
      </pc:sldChg>
      <pc:sldChg chg="modSp mod">
        <pc:chgData name="Najib Fauzan" userId="54b7f98b-b9eb-4239-b16a-ca4516cd1d27" providerId="ADAL" clId="{8760DB19-FAC0-45EB-BF1D-02BF9CFF1B96}" dt="2026-06-12T01:40:00.439" v="219" actId="27636"/>
        <pc:sldMkLst>
          <pc:docMk/>
          <pc:sldMk cId="0" sldId="326"/>
        </pc:sldMkLst>
        <pc:spChg chg="mod">
          <ac:chgData name="Najib Fauzan" userId="54b7f98b-b9eb-4239-b16a-ca4516cd1d27" providerId="ADAL" clId="{8760DB19-FAC0-45EB-BF1D-02BF9CFF1B96}" dt="2026-06-12T01:39:51.092" v="214" actId="1076"/>
          <ac:spMkLst>
            <pc:docMk/>
            <pc:sldMk cId="0" sldId="326"/>
            <ac:spMk id="2" creationId="{00000000-0000-0000-0000-000000000000}"/>
          </ac:spMkLst>
        </pc:spChg>
        <pc:spChg chg="mod">
          <ac:chgData name="Najib Fauzan" userId="54b7f98b-b9eb-4239-b16a-ca4516cd1d27" providerId="ADAL" clId="{8760DB19-FAC0-45EB-BF1D-02BF9CFF1B96}" dt="2026-06-12T01:40:00.417" v="215" actId="1076"/>
          <ac:spMkLst>
            <pc:docMk/>
            <pc:sldMk cId="0" sldId="326"/>
            <ac:spMk id="9" creationId="{00000000-0000-0000-0000-000000000000}"/>
          </ac:spMkLst>
        </pc:spChg>
        <pc:spChg chg="mod">
          <ac:chgData name="Najib Fauzan" userId="54b7f98b-b9eb-4239-b16a-ca4516cd1d27" providerId="ADAL" clId="{8760DB19-FAC0-45EB-BF1D-02BF9CFF1B96}" dt="2026-06-12T01:40:00.434" v="217" actId="27636"/>
          <ac:spMkLst>
            <pc:docMk/>
            <pc:sldMk cId="0" sldId="326"/>
            <ac:spMk id="10" creationId="{00000000-0000-0000-0000-000000000000}"/>
          </ac:spMkLst>
        </pc:spChg>
        <pc:spChg chg="mod">
          <ac:chgData name="Najib Fauzan" userId="54b7f98b-b9eb-4239-b16a-ca4516cd1d27" providerId="ADAL" clId="{8760DB19-FAC0-45EB-BF1D-02BF9CFF1B96}" dt="2026-06-12T01:40:00.439" v="219" actId="27636"/>
          <ac:spMkLst>
            <pc:docMk/>
            <pc:sldMk cId="0" sldId="326"/>
            <ac:spMk id="11" creationId="{00000000-0000-0000-0000-000000000000}"/>
          </ac:spMkLst>
        </pc:spChg>
        <pc:spChg chg="mod">
          <ac:chgData name="Najib Fauzan" userId="54b7f98b-b9eb-4239-b16a-ca4516cd1d27" providerId="ADAL" clId="{8760DB19-FAC0-45EB-BF1D-02BF9CFF1B96}" dt="2026-06-12T01:40:00.439" v="218" actId="27636"/>
          <ac:spMkLst>
            <pc:docMk/>
            <pc:sldMk cId="0" sldId="326"/>
            <ac:spMk id="12" creationId="{00000000-0000-0000-0000-000000000000}"/>
          </ac:spMkLst>
        </pc:spChg>
        <pc:spChg chg="mod">
          <ac:chgData name="Najib Fauzan" userId="54b7f98b-b9eb-4239-b16a-ca4516cd1d27" providerId="ADAL" clId="{8760DB19-FAC0-45EB-BF1D-02BF9CFF1B96}" dt="2026-06-12T01:40:00.434" v="216" actId="27636"/>
          <ac:spMkLst>
            <pc:docMk/>
            <pc:sldMk cId="0" sldId="326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 type="title">
  <p:cSld name="Cov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365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6169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 1">
  <p:cSld name="Blank 2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7724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7214100" y="4939750"/>
            <a:ext cx="192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id" sz="7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PRIVATE AND CONFIDENTIAL</a:t>
            </a:r>
            <a:endParaRPr sz="7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12017" y="4939748"/>
            <a:ext cx="1267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id" sz="700" b="0" i="0" u="none" strike="noStrike" cap="none">
                <a:solidFill>
                  <a:srgbClr val="02775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PT Garuda Yamato Steel</a:t>
            </a:r>
            <a:endParaRPr sz="700" b="0" i="0" u="none" strike="noStrike" cap="none">
              <a:solidFill>
                <a:srgbClr val="02775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7868875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371600"/>
            <a:ext cx="50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5400" b="1" dirty="0">
                <a:solidFill>
                  <a:srgbClr val="FFFFFF"/>
                </a:solidFill>
                <a:latin typeface="Calibri"/>
              </a:rPr>
              <a:t>ShiftMind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2200000"/>
            <a:ext cx="5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2000" b="0" dirty="0">
                <a:solidFill>
                  <a:srgbClr val="A8D5C2"/>
                </a:solidFill>
                <a:latin typeface="Calibri"/>
              </a:rPr>
              <a:t>Your company’s memory, powered by AI</a:t>
            </a:r>
          </a:p>
        </p:txBody>
      </p:sp>
      <p:sp>
        <p:nvSpPr>
          <p:cNvPr id="4" name="TagLine"/>
          <p:cNvSpPr txBox="1"/>
          <p:nvPr/>
        </p:nvSpPr>
        <p:spPr>
          <a:xfrm>
            <a:off x="457200" y="2750000"/>
            <a:ext cx="4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Calibri"/>
              </a:rPr>
              <a:t>Knowledge AI  •  v2.0</a:t>
            </a:r>
          </a:p>
        </p:txBody>
      </p:sp>
      <p:sp>
        <p:nvSpPr>
          <p:cNvPr id="5" name="Description"/>
          <p:cNvSpPr txBox="1"/>
          <p:nvPr/>
        </p:nvSpPr>
        <p:spPr>
          <a:xfrm>
            <a:off x="457200" y="3200000"/>
            <a:ext cx="5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0" i="1" dirty="0">
                <a:solidFill>
                  <a:srgbClr val="A8D5C2"/>
                </a:solidFill>
                <a:latin typeface="Calibri"/>
              </a:rPr>
              <a:t>AI-powered knowledge intelligence for steel manufacturing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1175656" y="420000"/>
            <a:ext cx="3102429" cy="3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100" b="1" dirty="0">
                <a:solidFill>
                  <a:srgbClr val="007A5E"/>
                </a:solidFill>
                <a:latin typeface="Calibri"/>
              </a:rPr>
              <a:t>ABOUT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920000"/>
            <a:ext cx="40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A1A2E"/>
                </a:solidFill>
                <a:latin typeface="Calibri"/>
              </a:rPr>
              <a:t>What is ShiftMind?</a:t>
            </a:r>
          </a:p>
        </p:txBody>
      </p:sp>
      <p:sp>
        <p:nvSpPr>
          <p:cNvPr id="4" name="Desc"/>
          <p:cNvSpPr txBox="1"/>
          <p:nvPr/>
        </p:nvSpPr>
        <p:spPr>
          <a:xfrm>
            <a:off x="457200" y="1550000"/>
            <a:ext cx="39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</a:pPr>
            <a:r>
              <a:rPr lang="en-US" sz="1300" dirty="0">
                <a:solidFill>
                  <a:srgbClr val="333333"/>
                </a:solidFill>
                <a:latin typeface="Calibri"/>
              </a:rPr>
              <a:t>ShiftMind is an enterprise AI knowledge intelligence platform built specifically for PT Garuda Yamato Steel — a joint venture steel manufacturer in Cikarang, Bekasi.</a:t>
            </a:r>
          </a:p>
          <a:p>
            <a:pPr algn="l">
              <a:spcBef>
                <a:spcPts val="200"/>
              </a:spcBef>
            </a:pPr>
            <a:r>
              <a:rPr lang="en-US" sz="1300" dirty="0">
                <a:solidFill>
                  <a:srgbClr val="333333"/>
                </a:solidFill>
                <a:latin typeface="Calibri"/>
              </a:rPr>
              <a:t>It replaces scattered documents, forgotten SOPs, and lost institutional knowledge with a single, searchable, AI-powered brain.</a:t>
            </a:r>
          </a:p>
        </p:txBody>
      </p:sp>
      <p:sp>
        <p:nvSpPr>
          <p:cNvPr id="5" name="Badge1"/>
          <p:cNvSpPr txBox="1"/>
          <p:nvPr/>
        </p:nvSpPr>
        <p:spPr>
          <a:xfrm>
            <a:off x="564400" y="3580000"/>
            <a:ext cx="1100000" cy="340000"/>
          </a:xfrm>
          <a:prstGeom prst="roundRect">
            <a:avLst>
              <a:gd name="adj" fmla="val 20000"/>
            </a:avLst>
          </a:prstGeom>
          <a:solidFill>
            <a:srgbClr val="E8F5F1"/>
          </a:solidFill>
          <a:ln>
            <a:solidFill>
              <a:srgbClr val="007A5E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007A5E"/>
                </a:solidFill>
                <a:latin typeface="Calibri"/>
              </a:rPr>
              <a:t>🏗 Steel Mfg</a:t>
            </a:r>
          </a:p>
        </p:txBody>
      </p:sp>
      <p:sp>
        <p:nvSpPr>
          <p:cNvPr id="6" name="Badge2"/>
          <p:cNvSpPr txBox="1"/>
          <p:nvPr/>
        </p:nvSpPr>
        <p:spPr>
          <a:xfrm>
            <a:off x="1727200" y="3580000"/>
            <a:ext cx="1100000" cy="340000"/>
          </a:xfrm>
          <a:prstGeom prst="roundRect">
            <a:avLst>
              <a:gd name="adj" fmla="val 20000"/>
            </a:avLst>
          </a:prstGeom>
          <a:solidFill>
            <a:srgbClr val="E8F5F1"/>
          </a:solidFill>
          <a:ln>
            <a:solidFill>
              <a:srgbClr val="007A5E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007A5E"/>
                </a:solidFill>
                <a:latin typeface="Calibri"/>
              </a:rPr>
              <a:t>🤖 AI-First</a:t>
            </a:r>
          </a:p>
        </p:txBody>
      </p:sp>
      <p:sp>
        <p:nvSpPr>
          <p:cNvPr id="7" name="Badge3"/>
          <p:cNvSpPr txBox="1"/>
          <p:nvPr/>
        </p:nvSpPr>
        <p:spPr>
          <a:xfrm>
            <a:off x="2907200" y="3580000"/>
            <a:ext cx="1100000" cy="340000"/>
          </a:xfrm>
          <a:prstGeom prst="roundRect">
            <a:avLst>
              <a:gd name="adj" fmla="val 20000"/>
            </a:avLst>
          </a:prstGeom>
          <a:solidFill>
            <a:srgbClr val="E8F5F1"/>
          </a:solidFill>
          <a:ln>
            <a:solidFill>
              <a:srgbClr val="007A5E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007A5E"/>
                </a:solidFill>
                <a:latin typeface="Calibri"/>
              </a:rPr>
              <a:t>🔒 On-Premise</a:t>
            </a:r>
          </a:p>
        </p:txBody>
      </p:sp>
      <p:sp>
        <p:nvSpPr>
          <p:cNvPr id="8" name="ProblemTitle"/>
          <p:cNvSpPr txBox="1"/>
          <p:nvPr/>
        </p:nvSpPr>
        <p:spPr>
          <a:xfrm>
            <a:off x="4600000" y="1073500"/>
            <a:ext cx="4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2000" b="1" dirty="0">
                <a:solidFill>
                  <a:srgbClr val="1A1A2E"/>
                </a:solidFill>
                <a:latin typeface="Calibri"/>
              </a:rPr>
              <a:t>The Problem It Solves</a:t>
            </a:r>
          </a:p>
        </p:txBody>
      </p:sp>
      <p:sp>
        <p:nvSpPr>
          <p:cNvPr id="9" name="ProblemList"/>
          <p:cNvSpPr txBox="1"/>
          <p:nvPr/>
        </p:nvSpPr>
        <p:spPr>
          <a:xfrm>
            <a:off x="4600000" y="1603500"/>
            <a:ext cx="4200000" cy="1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00"/>
              </a:lnSpc>
              <a:spcAft>
                <a:spcPts val="300"/>
              </a:spcAft>
            </a:pPr>
            <a:r>
              <a:rPr lang="en-US" sz="1200" dirty="0">
                <a:solidFill>
                  <a:srgbClr val="CC2200"/>
                </a:solidFill>
                <a:latin typeface="Calibri"/>
              </a:rPr>
              <a:t>❌  SOPs buried in OneDrive folders no one opens</a:t>
            </a:r>
          </a:p>
          <a:p>
            <a:pPr algn="l">
              <a:lnSpc>
                <a:spcPts val="1800"/>
              </a:lnSpc>
              <a:spcAft>
                <a:spcPts val="300"/>
              </a:spcAft>
            </a:pPr>
            <a:r>
              <a:rPr lang="en-US" sz="1200" dirty="0">
                <a:solidFill>
                  <a:srgbClr val="CC2200"/>
                </a:solidFill>
                <a:latin typeface="Calibri"/>
              </a:rPr>
              <a:t>❌  Tacit knowledge walks out when experts leave</a:t>
            </a:r>
          </a:p>
          <a:p>
            <a:pPr algn="l">
              <a:lnSpc>
                <a:spcPts val="1800"/>
              </a:lnSpc>
              <a:spcAft>
                <a:spcPts val="300"/>
              </a:spcAft>
            </a:pPr>
            <a:r>
              <a:rPr lang="en-US" sz="1200" dirty="0">
                <a:solidFill>
                  <a:srgbClr val="CC2200"/>
                </a:solidFill>
                <a:latin typeface="Calibri"/>
              </a:rPr>
              <a:t>❌  New employees waste weeks finding the right person</a:t>
            </a:r>
          </a:p>
          <a:p>
            <a:pPr algn="l">
              <a:lnSpc>
                <a:spcPts val="1800"/>
              </a:lnSpc>
            </a:pPr>
            <a:r>
              <a:rPr lang="en-US" sz="1200" dirty="0">
                <a:solidFill>
                  <a:srgbClr val="CC2200"/>
                </a:solidFill>
                <a:latin typeface="Calibri"/>
              </a:rPr>
              <a:t>❌  Checklist failures go unnoticed without AI analysis</a:t>
            </a:r>
          </a:p>
        </p:txBody>
      </p:sp>
      <p:sp>
        <p:nvSpPr>
          <p:cNvPr id="10" name="Solution"/>
          <p:cNvSpPr txBox="1"/>
          <p:nvPr/>
        </p:nvSpPr>
        <p:spPr>
          <a:xfrm>
            <a:off x="4600000" y="3540000"/>
            <a:ext cx="4200000" cy="380000"/>
          </a:xfrm>
          <a:prstGeom prst="roundRect">
            <a:avLst>
              <a:gd name="adj" fmla="val 10000"/>
            </a:avLst>
          </a:prstGeom>
          <a:solidFill>
            <a:srgbClr val="007A5E"/>
          </a:solidFill>
          <a:ln>
            <a:noFill/>
          </a:ln>
        </p:spPr>
        <p:txBody>
          <a:bodyPr wrap="square" lIns="91425" tIns="45720" rIns="91425" bIns="4572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→ ShiftMind replaces all of the above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1200150" y="416379"/>
            <a:ext cx="3077936" cy="3391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100" b="1" dirty="0">
                <a:solidFill>
                  <a:srgbClr val="007A5E"/>
                </a:solidFill>
                <a:latin typeface="Calibri"/>
              </a:rPr>
              <a:t>CORE FEATURES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920000"/>
            <a:ext cx="8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A1A2E"/>
                </a:solidFill>
                <a:latin typeface="Calibri"/>
              </a:rPr>
              <a:t>What ShiftMind Can Do</a:t>
            </a:r>
          </a:p>
        </p:txBody>
      </p:sp>
      <p:sp>
        <p:nvSpPr>
          <p:cNvPr id="4" name="Card1"/>
          <p:cNvSpPr txBox="1"/>
          <p:nvPr/>
        </p:nvSpPr>
        <p:spPr>
          <a:xfrm>
            <a:off x="457200" y="1600000"/>
            <a:ext cx="2600000" cy="971750"/>
          </a:xfrm>
          <a:prstGeom prst="roundRect">
            <a:avLst>
              <a:gd name="adj" fmla="val 10000"/>
            </a:avLst>
          </a:prstGeom>
          <a:solidFill>
            <a:srgbClr val="F0FAF6"/>
          </a:solidFill>
          <a:ln>
            <a:solidFill>
              <a:srgbClr val="007A5E"/>
            </a:solidFill>
          </a:ln>
        </p:spPr>
        <p:txBody>
          <a:bodyPr wrap="square" lIns="91425" tIns="91425" rIns="91425" bIns="91425" anchor="t">
            <a:normAutofit/>
          </a:bodyPr>
          <a:lstStyle/>
          <a:p>
            <a:pPr algn="l"/>
            <a:r>
              <a:rPr lang="en-US" sz="1400" b="1" dirty="0">
                <a:solidFill>
                  <a:srgbClr val="007A5E"/>
                </a:solidFill>
                <a:latin typeface="Calibri"/>
              </a:rPr>
              <a:t>🧠 Ask ShiftMind</a:t>
            </a:r>
          </a:p>
          <a:p>
            <a:pPr algn="l">
              <a:lnSpc>
                <a:spcPts val="1600"/>
              </a:lnSpc>
            </a:pPr>
            <a:r>
              <a:rPr lang="en-US" sz="1000" dirty="0">
                <a:solidFill>
                  <a:srgbClr val="444444"/>
                </a:solidFill>
                <a:latin typeface="Calibri"/>
              </a:rPr>
              <a:t>Chat with your AI about any SOP or policy in Bahasa Indonesia, backed by vector search.</a:t>
            </a:r>
          </a:p>
        </p:txBody>
      </p:sp>
      <p:sp>
        <p:nvSpPr>
          <p:cNvPr id="5" name="Card2"/>
          <p:cNvSpPr txBox="1"/>
          <p:nvPr/>
        </p:nvSpPr>
        <p:spPr>
          <a:xfrm>
            <a:off x="3157200" y="1600000"/>
            <a:ext cx="2600000" cy="971750"/>
          </a:xfrm>
          <a:prstGeom prst="roundRect">
            <a:avLst>
              <a:gd name="adj" fmla="val 10000"/>
            </a:avLst>
          </a:prstGeom>
          <a:solidFill>
            <a:srgbClr val="F0FAF6"/>
          </a:solidFill>
          <a:ln>
            <a:solidFill>
              <a:srgbClr val="007A5E"/>
            </a:solidFill>
          </a:ln>
        </p:spPr>
        <p:txBody>
          <a:bodyPr wrap="square" lIns="91425" tIns="91425" rIns="91425" bIns="91425" anchor="t">
            <a:normAutofit fontScale="92500"/>
          </a:bodyPr>
          <a:lstStyle/>
          <a:p>
            <a:pPr algn="l"/>
            <a:r>
              <a:rPr lang="en-US" sz="1400" b="1" dirty="0">
                <a:solidFill>
                  <a:srgbClr val="007A5E"/>
                </a:solidFill>
                <a:latin typeface="Calibri"/>
              </a:rPr>
              <a:t>📚 Enterprise Brain</a:t>
            </a:r>
          </a:p>
          <a:p>
            <a:pPr algn="l">
              <a:lnSpc>
                <a:spcPts val="1600"/>
              </a:lnSpc>
            </a:pPr>
            <a:r>
              <a:rPr lang="en-US" sz="1000" dirty="0">
                <a:solidFill>
                  <a:srgbClr val="444444"/>
                </a:solidFill>
                <a:latin typeface="Calibri"/>
              </a:rPr>
              <a:t>Auto-syncs SOPs from OneDrive. Supports PDF, DOCX, XLSX, PPTX. 1,536-dim vector embeddings.</a:t>
            </a:r>
          </a:p>
        </p:txBody>
      </p:sp>
      <p:sp>
        <p:nvSpPr>
          <p:cNvPr id="6" name="Card3"/>
          <p:cNvSpPr txBox="1"/>
          <p:nvPr/>
        </p:nvSpPr>
        <p:spPr>
          <a:xfrm>
            <a:off x="5857200" y="1599999"/>
            <a:ext cx="2829600" cy="971749"/>
          </a:xfrm>
          <a:prstGeom prst="roundRect">
            <a:avLst>
              <a:gd name="adj" fmla="val 10000"/>
            </a:avLst>
          </a:prstGeom>
          <a:solidFill>
            <a:srgbClr val="F0FAF6"/>
          </a:solidFill>
          <a:ln>
            <a:solidFill>
              <a:srgbClr val="007A5E"/>
            </a:solidFill>
          </a:ln>
        </p:spPr>
        <p:txBody>
          <a:bodyPr wrap="square" lIns="91425" tIns="91425" rIns="91425" bIns="91425" anchor="t">
            <a:normAutofit fontScale="92500"/>
          </a:bodyPr>
          <a:lstStyle/>
          <a:p>
            <a:pPr algn="l"/>
            <a:r>
              <a:rPr lang="en-US" sz="1400" b="1" dirty="0">
                <a:solidFill>
                  <a:srgbClr val="007A5E"/>
                </a:solidFill>
                <a:latin typeface="Calibri"/>
              </a:rPr>
              <a:t>📝 Tacit Knowledge</a:t>
            </a:r>
          </a:p>
          <a:p>
            <a:pPr algn="l">
              <a:lnSpc>
                <a:spcPts val="1600"/>
              </a:lnSpc>
            </a:pPr>
            <a:r>
              <a:rPr lang="en-US" sz="1000" dirty="0">
                <a:solidFill>
                  <a:srgbClr val="444444"/>
                </a:solidFill>
                <a:latin typeface="Calibri"/>
              </a:rPr>
              <a:t>Work Journal: Employees log daily work. AI auto-categorizes and pushes insights to knowledge base.</a:t>
            </a:r>
          </a:p>
        </p:txBody>
      </p:sp>
      <p:sp>
        <p:nvSpPr>
          <p:cNvPr id="7" name="Card4"/>
          <p:cNvSpPr txBox="1"/>
          <p:nvPr/>
        </p:nvSpPr>
        <p:spPr>
          <a:xfrm>
            <a:off x="457200" y="2909036"/>
            <a:ext cx="2600000" cy="720000"/>
          </a:xfrm>
          <a:prstGeom prst="roundRect">
            <a:avLst>
              <a:gd name="adj" fmla="val 10000"/>
            </a:avLst>
          </a:prstGeom>
          <a:solidFill>
            <a:srgbClr val="F0FAF6"/>
          </a:solidFill>
          <a:ln>
            <a:solidFill>
              <a:srgbClr val="007A5E"/>
            </a:solidFill>
          </a:ln>
        </p:spPr>
        <p:txBody>
          <a:bodyPr wrap="square" lIns="91425" tIns="91425" rIns="91425" bIns="91425" anchor="t">
            <a:normAutofit fontScale="62500" lnSpcReduction="20000"/>
          </a:bodyPr>
          <a:lstStyle/>
          <a:p>
            <a:pPr algn="l"/>
            <a:r>
              <a:rPr lang="en-US" sz="1400" b="1" dirty="0">
                <a:solidFill>
                  <a:srgbClr val="007A5E"/>
                </a:solidFill>
                <a:latin typeface="Calibri"/>
              </a:rPr>
              <a:t>⚙️ Auto SOP Generator</a:t>
            </a:r>
          </a:p>
          <a:p>
            <a:pPr algn="l">
              <a:lnSpc>
                <a:spcPts val="1600"/>
              </a:lnSpc>
            </a:pPr>
            <a:r>
              <a:rPr lang="en-US" sz="1000" dirty="0">
                <a:solidFill>
                  <a:srgbClr val="444444"/>
                </a:solidFill>
                <a:latin typeface="Calibri"/>
              </a:rPr>
              <a:t>Record step-by-step procedures. AI converts raw steps into formal SOPs with safety analysis.</a:t>
            </a:r>
          </a:p>
        </p:txBody>
      </p:sp>
      <p:sp>
        <p:nvSpPr>
          <p:cNvPr id="8" name="Card5"/>
          <p:cNvSpPr txBox="1"/>
          <p:nvPr/>
        </p:nvSpPr>
        <p:spPr>
          <a:xfrm>
            <a:off x="3157200" y="2909036"/>
            <a:ext cx="2600000" cy="720000"/>
          </a:xfrm>
          <a:prstGeom prst="roundRect">
            <a:avLst>
              <a:gd name="adj" fmla="val 10000"/>
            </a:avLst>
          </a:prstGeom>
          <a:solidFill>
            <a:srgbClr val="F0FAF6"/>
          </a:solidFill>
          <a:ln>
            <a:solidFill>
              <a:srgbClr val="007A5E"/>
            </a:solidFill>
          </a:ln>
        </p:spPr>
        <p:txBody>
          <a:bodyPr wrap="square" lIns="91425" tIns="91425" rIns="91425" bIns="91425" anchor="t">
            <a:normAutofit fontScale="62500" lnSpcReduction="20000"/>
          </a:bodyPr>
          <a:lstStyle/>
          <a:p>
            <a:pPr algn="l"/>
            <a:r>
              <a:rPr lang="en-US" sz="1400" b="1" dirty="0">
                <a:solidFill>
                  <a:srgbClr val="007A5E"/>
                </a:solidFill>
                <a:latin typeface="Calibri"/>
              </a:rPr>
              <a:t>✅ Safety &amp; Maintenance</a:t>
            </a:r>
          </a:p>
          <a:p>
            <a:pPr algn="l">
              <a:lnSpc>
                <a:spcPts val="1600"/>
              </a:lnSpc>
            </a:pPr>
            <a:r>
              <a:rPr lang="en-US" sz="1000" dirty="0">
                <a:solidFill>
                  <a:srgbClr val="444444"/>
                </a:solidFill>
                <a:latin typeface="Calibri"/>
              </a:rPr>
              <a:t>Daily Checklists: AI flags FAIL items, sends WhatsApp alerts, notifies admins in-app.</a:t>
            </a:r>
          </a:p>
        </p:txBody>
      </p:sp>
      <p:sp>
        <p:nvSpPr>
          <p:cNvPr id="9" name="Card6"/>
          <p:cNvSpPr txBox="1"/>
          <p:nvPr/>
        </p:nvSpPr>
        <p:spPr>
          <a:xfrm>
            <a:off x="5857200" y="2909036"/>
            <a:ext cx="2800000" cy="720000"/>
          </a:xfrm>
          <a:prstGeom prst="roundRect">
            <a:avLst>
              <a:gd name="adj" fmla="val 10000"/>
            </a:avLst>
          </a:prstGeom>
          <a:solidFill>
            <a:srgbClr val="F0FAF6"/>
          </a:solidFill>
          <a:ln>
            <a:solidFill>
              <a:srgbClr val="007A5E"/>
            </a:solidFill>
          </a:ln>
        </p:spPr>
        <p:txBody>
          <a:bodyPr wrap="square" lIns="91425" tIns="91425" rIns="91425" bIns="91425" anchor="t">
            <a:normAutofit fontScale="62500" lnSpcReduction="20000"/>
          </a:bodyPr>
          <a:lstStyle/>
          <a:p>
            <a:pPr algn="l"/>
            <a:r>
              <a:rPr lang="en-US" sz="1400" b="1" dirty="0">
                <a:solidFill>
                  <a:srgbClr val="007A5E"/>
                </a:solidFill>
                <a:latin typeface="Calibri"/>
              </a:rPr>
              <a:t>📋 Workflow Automation</a:t>
            </a:r>
          </a:p>
          <a:p>
            <a:pPr algn="l">
              <a:lnSpc>
                <a:spcPts val="1600"/>
              </a:lnSpc>
            </a:pPr>
            <a:r>
              <a:rPr lang="en-US" sz="1000" dirty="0">
                <a:solidFill>
                  <a:srgbClr val="444444"/>
                </a:solidFill>
                <a:latin typeface="Calibri"/>
              </a:rPr>
              <a:t>Approvals &amp; Contracts: AI risk assessment, auto-approves low-risk items, routes to admins.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1208314" y="506186"/>
            <a:ext cx="4049486" cy="26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100" b="1" dirty="0">
                <a:solidFill>
                  <a:srgbClr val="007A5E"/>
                </a:solidFill>
                <a:latin typeface="Calibri"/>
              </a:rPr>
              <a:t>INTELLIGENCE LAYER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920000"/>
            <a:ext cx="44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2400" b="1" dirty="0">
                <a:solidFill>
                  <a:srgbClr val="1A1A2E"/>
                </a:solidFill>
                <a:latin typeface="Calibri"/>
              </a:rPr>
              <a:t>AI That Learns &amp; Grows With You</a:t>
            </a:r>
          </a:p>
        </p:txBody>
      </p:sp>
      <p:sp>
        <p:nvSpPr>
          <p:cNvPr id="4" name="Features"/>
          <p:cNvSpPr txBox="1"/>
          <p:nvPr/>
        </p:nvSpPr>
        <p:spPr>
          <a:xfrm>
            <a:off x="457200" y="1570000"/>
            <a:ext cx="4200000" cy="2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100"/>
              </a:spcAft>
            </a:pPr>
            <a:r>
              <a:rPr lang="en-US" sz="1300" b="1" dirty="0">
                <a:solidFill>
                  <a:srgbClr val="007A5E"/>
                </a:solidFill>
                <a:latin typeface="Calibri"/>
              </a:rPr>
              <a:t>🔍 Expert Finder</a:t>
            </a:r>
          </a:p>
          <a:p>
            <a:pPr algn="l">
              <a:spcAft>
                <a:spcPts val="400"/>
              </a:spcAft>
            </a:pPr>
            <a:r>
              <a:rPr lang="en-US" sz="1100" dirty="0">
                <a:solidFill>
                  <a:srgbClr val="444444"/>
                </a:solidFill>
                <a:latin typeface="Calibri"/>
              </a:rPr>
              <a:t>AI scores every employee by journals, workflows &amp; knowledge entries to surface the right expert instantly.</a:t>
            </a:r>
          </a:p>
          <a:p>
            <a:pPr algn="l">
              <a:spcAft>
                <a:spcPts val="100"/>
              </a:spcAft>
            </a:pPr>
            <a:r>
              <a:rPr lang="en-US" sz="1300" b="1" dirty="0">
                <a:solidFill>
                  <a:srgbClr val="007A5E"/>
                </a:solidFill>
                <a:latin typeface="Calibri"/>
              </a:rPr>
              <a:t>📊 Knowledge Analytics</a:t>
            </a:r>
          </a:p>
          <a:p>
            <a:pPr algn="l">
              <a:spcAft>
                <a:spcPts val="400"/>
              </a:spcAft>
            </a:pPr>
            <a:r>
              <a:rPr lang="en-US" sz="1100" dirty="0">
                <a:solidFill>
                  <a:srgbClr val="444444"/>
                </a:solidFill>
                <a:latin typeface="Calibri"/>
              </a:rPr>
              <a:t>Detects knowledge gaps from query patterns. Shows what employees ask vs. what’s documented.</a:t>
            </a:r>
          </a:p>
          <a:p>
            <a:pPr algn="l">
              <a:spcAft>
                <a:spcPts val="100"/>
              </a:spcAft>
            </a:pPr>
            <a:r>
              <a:rPr lang="en-US" sz="1300" b="1" dirty="0">
                <a:solidFill>
                  <a:srgbClr val="007A5E"/>
                </a:solidFill>
                <a:latin typeface="Calibri"/>
              </a:rPr>
              <a:t>💚 Knowledge Health Monitor</a:t>
            </a:r>
          </a:p>
          <a:p>
            <a:pPr algn="l">
              <a:spcAft>
                <a:spcPts val="400"/>
              </a:spcAft>
            </a:pPr>
            <a:r>
              <a:rPr lang="en-US" sz="1100" dirty="0">
                <a:solidFill>
                  <a:srgbClr val="444444"/>
                </a:solidFill>
                <a:latin typeface="Calibri"/>
              </a:rPr>
              <a:t>Flags stale documents (180+ days), detects contradictions, prompts admin review.</a:t>
            </a:r>
          </a:p>
          <a:p>
            <a:pPr algn="l">
              <a:spcAft>
                <a:spcPts val="100"/>
              </a:spcAft>
            </a:pPr>
            <a:r>
              <a:rPr lang="en-US" sz="1300" b="1" dirty="0">
                <a:solidFill>
                  <a:srgbClr val="007A5E"/>
                </a:solidFill>
                <a:latin typeface="Calibri"/>
              </a:rPr>
              <a:t>📡 Steel Market Intelligence</a:t>
            </a:r>
          </a:p>
          <a:p>
            <a:pPr algn="l"/>
            <a:r>
              <a:rPr lang="en-US" sz="1100" dirty="0">
                <a:solidFill>
                  <a:srgbClr val="444444"/>
                </a:solidFill>
                <a:latin typeface="Calibri"/>
              </a:rPr>
              <a:t>Daily auto-scraping of HRC steel prices, USD/IDR rates, and industry news.</a:t>
            </a:r>
          </a:p>
        </p:txBody>
      </p:sp>
      <p:sp>
        <p:nvSpPr>
          <p:cNvPr id="5" name="PipelineTitle"/>
          <p:cNvSpPr txBox="1"/>
          <p:nvPr/>
        </p:nvSpPr>
        <p:spPr>
          <a:xfrm>
            <a:off x="4986800" y="1040000"/>
            <a:ext cx="37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2000" b="1" dirty="0">
                <a:solidFill>
                  <a:srgbClr val="1A1A2E"/>
                </a:solidFill>
                <a:latin typeface="Calibri"/>
              </a:rPr>
              <a:t>Auto-Learning Pipeline</a:t>
            </a:r>
          </a:p>
        </p:txBody>
      </p:sp>
      <p:sp>
        <p:nvSpPr>
          <p:cNvPr id="6" name="Pipeline"/>
          <p:cNvSpPr txBox="1"/>
          <p:nvPr/>
        </p:nvSpPr>
        <p:spPr>
          <a:xfrm>
            <a:off x="4986800" y="1570000"/>
            <a:ext cx="3700000" cy="2040000"/>
          </a:xfrm>
          <a:prstGeom prst="roundRect">
            <a:avLst>
              <a:gd name="adj" fmla="val 10000"/>
            </a:avLst>
          </a:prstGeom>
          <a:solidFill>
            <a:srgbClr val="F0FAF6"/>
          </a:solidFill>
          <a:ln>
            <a:solidFill>
              <a:srgbClr val="007A5E"/>
            </a:solidFill>
          </a:ln>
        </p:spPr>
        <p:txBody>
          <a:bodyPr wrap="square" lIns="114300" tIns="114300" rIns="114300" bIns="11430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en-US" sz="1200" b="1" dirty="0">
                <a:solidFill>
                  <a:srgbClr val="007A5E"/>
                </a:solidFill>
                <a:latin typeface="Calibri"/>
              </a:rPr>
              <a:t>1  User asks a question</a:t>
            </a:r>
          </a:p>
          <a:p>
            <a:pPr algn="l">
              <a:spcAft>
                <a:spcPts val="300"/>
              </a:spcAft>
            </a:pPr>
            <a:r>
              <a:rPr lang="en-US" sz="1200" b="1" dirty="0">
                <a:solidFill>
                  <a:srgbClr val="007A5E"/>
                </a:solidFill>
                <a:latin typeface="Calibri"/>
              </a:rPr>
              <a:t>2  Vector search retrieves context</a:t>
            </a:r>
          </a:p>
          <a:p>
            <a:pPr algn="l">
              <a:spcAft>
                <a:spcPts val="300"/>
              </a:spcAft>
            </a:pPr>
            <a:r>
              <a:rPr lang="en-US" sz="1200" b="1" dirty="0">
                <a:solidFill>
                  <a:srgbClr val="007A5E"/>
                </a:solidFill>
                <a:latin typeface="Calibri"/>
              </a:rPr>
              <a:t>3  LLM generates answer</a:t>
            </a:r>
          </a:p>
          <a:p>
            <a:pPr algn="l">
              <a:spcAft>
                <a:spcPts val="300"/>
              </a:spcAft>
            </a:pPr>
            <a:r>
              <a:rPr lang="en-US" sz="1200" b="1" dirty="0">
                <a:solidFill>
                  <a:srgbClr val="007A5E"/>
                </a:solidFill>
                <a:latin typeface="Calibri"/>
              </a:rPr>
              <a:t>4  Repeated queries auto-create draft entries</a:t>
            </a:r>
          </a:p>
          <a:p>
            <a:pPr algn="l">
              <a:spcAft>
                <a:spcPts val="400"/>
              </a:spcAft>
            </a:pPr>
            <a:r>
              <a:rPr lang="en-US" sz="1200" b="1" dirty="0">
                <a:solidFill>
                  <a:srgbClr val="007A5E"/>
                </a:solidFill>
                <a:latin typeface="Calibri"/>
              </a:rPr>
              <a:t>5  Admin approves → enters Knowledge Base</a:t>
            </a:r>
          </a:p>
          <a:p>
            <a:pPr algn="l"/>
            <a:r>
              <a:rPr lang="en-US" sz="900" i="1" dirty="0">
                <a:solidFill>
                  <a:srgbClr val="666666"/>
                </a:solidFill>
                <a:latin typeface="Calibri"/>
              </a:rPr>
              <a:t>Powered by 9Router · GPT-4o-mini · Gemini · Claude · DeepSeek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1183821" y="446379"/>
            <a:ext cx="4049486" cy="3236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100" b="1" dirty="0">
                <a:solidFill>
                  <a:srgbClr val="007A5E"/>
                </a:solidFill>
                <a:latin typeface="Calibri"/>
              </a:rPr>
              <a:t>TECH STACK &amp; ARCHITECTURE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920000"/>
            <a:ext cx="8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A1A2E"/>
                </a:solidFill>
                <a:latin typeface="Calibri"/>
              </a:rPr>
              <a:t>Built to Scale</a:t>
            </a:r>
          </a:p>
        </p:txBody>
      </p:sp>
      <p:sp>
        <p:nvSpPr>
          <p:cNvPr id="4" name="Tech1"/>
          <p:cNvSpPr txBox="1"/>
          <p:nvPr/>
        </p:nvSpPr>
        <p:spPr>
          <a:xfrm>
            <a:off x="457200" y="1600000"/>
            <a:ext cx="1580000" cy="680000"/>
          </a:xfrm>
          <a:prstGeom prst="roundRect">
            <a:avLst>
              <a:gd name="adj" fmla="val 10000"/>
            </a:avLst>
          </a:prstGeom>
          <a:solidFill>
            <a:srgbClr val="007A5E"/>
          </a:solidFill>
          <a:ln>
            <a:noFill/>
          </a:ln>
        </p:spPr>
        <p:txBody>
          <a:bodyPr wrap="square" lIns="91425" tIns="91425" rIns="91425" bIns="91425" anchor="t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Frontend</a:t>
            </a:r>
          </a:p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A8D5C2"/>
                </a:solidFill>
                <a:latin typeface="Calibri"/>
              </a:rPr>
              <a:t>React 18 · Vite · Three.js · Framer Motion</a:t>
            </a:r>
          </a:p>
        </p:txBody>
      </p:sp>
      <p:sp>
        <p:nvSpPr>
          <p:cNvPr id="5" name="Tech2"/>
          <p:cNvSpPr txBox="1"/>
          <p:nvPr/>
        </p:nvSpPr>
        <p:spPr>
          <a:xfrm>
            <a:off x="2097200" y="1600000"/>
            <a:ext cx="1580000" cy="680000"/>
          </a:xfrm>
          <a:prstGeom prst="roundRect">
            <a:avLst>
              <a:gd name="adj" fmla="val 10000"/>
            </a:avLst>
          </a:prstGeom>
          <a:solidFill>
            <a:srgbClr val="005C46"/>
          </a:solidFill>
          <a:ln>
            <a:noFill/>
          </a:ln>
        </p:spPr>
        <p:txBody>
          <a:bodyPr wrap="square" lIns="91425" tIns="91425" rIns="91425" bIns="91425" anchor="t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Backend</a:t>
            </a:r>
          </a:p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A8D5C2"/>
                </a:solidFill>
                <a:latin typeface="Calibri"/>
              </a:rPr>
              <a:t>FastAPI · Python 3.11 · SQLAlchemy · APScheduler</a:t>
            </a:r>
          </a:p>
        </p:txBody>
      </p:sp>
      <p:sp>
        <p:nvSpPr>
          <p:cNvPr id="6" name="Tech3"/>
          <p:cNvSpPr txBox="1"/>
          <p:nvPr/>
        </p:nvSpPr>
        <p:spPr>
          <a:xfrm>
            <a:off x="3737200" y="1600000"/>
            <a:ext cx="1580000" cy="680000"/>
          </a:xfrm>
          <a:prstGeom prst="roundRect">
            <a:avLst>
              <a:gd name="adj" fmla="val 10000"/>
            </a:avLst>
          </a:prstGeom>
          <a:solidFill>
            <a:srgbClr val="007A5E"/>
          </a:solidFill>
          <a:ln>
            <a:noFill/>
          </a:ln>
        </p:spPr>
        <p:txBody>
          <a:bodyPr wrap="square" lIns="91425" tIns="91425" rIns="91425" bIns="91425" anchor="t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Database</a:t>
            </a:r>
          </a:p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A8D5C2"/>
                </a:solidFill>
                <a:latin typeface="Calibri"/>
              </a:rPr>
              <a:t>PostgreSQL + pgvector · 1,536-dim · FastEmbed</a:t>
            </a:r>
          </a:p>
        </p:txBody>
      </p:sp>
      <p:sp>
        <p:nvSpPr>
          <p:cNvPr id="7" name="Tech4"/>
          <p:cNvSpPr txBox="1"/>
          <p:nvPr/>
        </p:nvSpPr>
        <p:spPr>
          <a:xfrm>
            <a:off x="5377200" y="1600000"/>
            <a:ext cx="1580000" cy="680000"/>
          </a:xfrm>
          <a:prstGeom prst="roundRect">
            <a:avLst>
              <a:gd name="adj" fmla="val 10000"/>
            </a:avLst>
          </a:prstGeom>
          <a:solidFill>
            <a:srgbClr val="005C46"/>
          </a:solidFill>
          <a:ln>
            <a:noFill/>
          </a:ln>
        </p:spPr>
        <p:txBody>
          <a:bodyPr wrap="square" lIns="91425" tIns="91425" rIns="91425" bIns="91425" anchor="t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Integrations</a:t>
            </a:r>
          </a:p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A8D5C2"/>
                </a:solidFill>
                <a:latin typeface="Calibri"/>
              </a:rPr>
              <a:t>OneDrive · LDAP/AD · WhatsApp Baileys</a:t>
            </a:r>
          </a:p>
        </p:txBody>
      </p:sp>
      <p:sp>
        <p:nvSpPr>
          <p:cNvPr id="8" name="Tech5"/>
          <p:cNvSpPr txBox="1"/>
          <p:nvPr/>
        </p:nvSpPr>
        <p:spPr>
          <a:xfrm>
            <a:off x="7017200" y="1600000"/>
            <a:ext cx="1669800" cy="680000"/>
          </a:xfrm>
          <a:prstGeom prst="roundRect">
            <a:avLst>
              <a:gd name="adj" fmla="val 10000"/>
            </a:avLst>
          </a:prstGeom>
          <a:solidFill>
            <a:srgbClr val="007A5E"/>
          </a:solidFill>
          <a:ln>
            <a:noFill/>
          </a:ln>
        </p:spPr>
        <p:txBody>
          <a:bodyPr wrap="square" lIns="91425" tIns="91425" rIns="91425" bIns="91425" anchor="t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Deployment</a:t>
            </a:r>
          </a:p>
          <a:p>
            <a:pPr algn="ctr">
              <a:lnSpc>
                <a:spcPts val="1500"/>
              </a:lnSpc>
            </a:pPr>
            <a:r>
              <a:rPr lang="en-US" sz="900" dirty="0">
                <a:solidFill>
                  <a:srgbClr val="A8D5C2"/>
                </a:solidFill>
                <a:latin typeface="Calibri"/>
              </a:rPr>
              <a:t>Docker Compose · Nginx · On-premise</a:t>
            </a:r>
          </a:p>
        </p:txBody>
      </p:sp>
      <p:sp>
        <p:nvSpPr>
          <p:cNvPr id="9" name="Tagline"/>
          <p:cNvSpPr txBox="1"/>
          <p:nvPr/>
        </p:nvSpPr>
        <p:spPr>
          <a:xfrm>
            <a:off x="457400" y="2593501"/>
            <a:ext cx="82296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1A1A2E"/>
                </a:solidFill>
                <a:latin typeface="Calibri"/>
              </a:rPr>
              <a:t>One Platform. Total Knowledge Control.</a:t>
            </a:r>
          </a:p>
        </p:txBody>
      </p:sp>
      <p:sp>
        <p:nvSpPr>
          <p:cNvPr id="10" name="Stat1"/>
          <p:cNvSpPr txBox="1"/>
          <p:nvPr/>
        </p:nvSpPr>
        <p:spPr>
          <a:xfrm>
            <a:off x="457400" y="3143501"/>
            <a:ext cx="1900000" cy="580000"/>
          </a:xfrm>
          <a:prstGeom prst="roundRect">
            <a:avLst>
              <a:gd name="adj" fmla="val 10000"/>
            </a:avLst>
          </a:prstGeom>
          <a:solidFill>
            <a:srgbClr val="E8F5F1"/>
          </a:solidFill>
          <a:ln>
            <a:solidFill>
              <a:srgbClr val="007A5E"/>
            </a:solidFill>
          </a:ln>
        </p:spPr>
        <p:txBody>
          <a:bodyPr wrap="square" lIns="91425" tIns="91425" rIns="91425" bIns="91425" anchor="ctr">
            <a:normAutofit fontScale="85000" lnSpcReduction="20000"/>
          </a:bodyPr>
          <a:lstStyle/>
          <a:p>
            <a:pPr algn="ctr"/>
            <a:r>
              <a:rPr lang="en-US" sz="2400" b="1" dirty="0">
                <a:solidFill>
                  <a:srgbClr val="007A5E"/>
                </a:solidFill>
                <a:latin typeface="Calibri"/>
              </a:rPr>
              <a:t>10+</a:t>
            </a:r>
          </a:p>
          <a:p>
            <a:pPr algn="ctr"/>
            <a:r>
              <a:rPr lang="en-US" sz="1000" dirty="0">
                <a:solidFill>
                  <a:srgbClr val="444444"/>
                </a:solidFill>
                <a:latin typeface="Calibri"/>
              </a:rPr>
              <a:t>AI-Powered Features</a:t>
            </a:r>
          </a:p>
        </p:txBody>
      </p:sp>
      <p:sp>
        <p:nvSpPr>
          <p:cNvPr id="11" name="Stat2"/>
          <p:cNvSpPr txBox="1"/>
          <p:nvPr/>
        </p:nvSpPr>
        <p:spPr>
          <a:xfrm>
            <a:off x="2557400" y="3143501"/>
            <a:ext cx="1900000" cy="580000"/>
          </a:xfrm>
          <a:prstGeom prst="roundRect">
            <a:avLst>
              <a:gd name="adj" fmla="val 10000"/>
            </a:avLst>
          </a:prstGeom>
          <a:solidFill>
            <a:srgbClr val="E8F5F1"/>
          </a:solidFill>
          <a:ln>
            <a:solidFill>
              <a:srgbClr val="007A5E"/>
            </a:solidFill>
          </a:ln>
        </p:spPr>
        <p:txBody>
          <a:bodyPr wrap="square" lIns="91425" tIns="91425" rIns="91425" bIns="91425" anchor="ctr">
            <a:normAutofit fontScale="85000" lnSpcReduction="20000"/>
          </a:bodyPr>
          <a:lstStyle/>
          <a:p>
            <a:pPr algn="ctr"/>
            <a:r>
              <a:rPr lang="en-US" sz="2400" b="1" dirty="0">
                <a:solidFill>
                  <a:srgbClr val="007A5E"/>
                </a:solidFill>
                <a:latin typeface="Calibri"/>
              </a:rPr>
              <a:t>∞</a:t>
            </a:r>
          </a:p>
          <a:p>
            <a:pPr algn="ctr"/>
            <a:r>
              <a:rPr lang="en-US" sz="1000" dirty="0">
                <a:solidFill>
                  <a:srgbClr val="444444"/>
                </a:solidFill>
                <a:latin typeface="Calibri"/>
              </a:rPr>
              <a:t>Documents via OneDrive</a:t>
            </a:r>
          </a:p>
        </p:txBody>
      </p:sp>
      <p:sp>
        <p:nvSpPr>
          <p:cNvPr id="12" name="Stat3"/>
          <p:cNvSpPr txBox="1"/>
          <p:nvPr/>
        </p:nvSpPr>
        <p:spPr>
          <a:xfrm>
            <a:off x="4657400" y="3143501"/>
            <a:ext cx="1900000" cy="580000"/>
          </a:xfrm>
          <a:prstGeom prst="roundRect">
            <a:avLst>
              <a:gd name="adj" fmla="val 10000"/>
            </a:avLst>
          </a:prstGeom>
          <a:solidFill>
            <a:srgbClr val="E8F5F1"/>
          </a:solidFill>
          <a:ln>
            <a:solidFill>
              <a:srgbClr val="007A5E"/>
            </a:solidFill>
          </a:ln>
        </p:spPr>
        <p:txBody>
          <a:bodyPr wrap="square" lIns="91425" tIns="91425" rIns="91425" bIns="91425" anchor="ctr">
            <a:normAutofit fontScale="85000" lnSpcReduction="20000"/>
          </a:bodyPr>
          <a:lstStyle/>
          <a:p>
            <a:pPr algn="ctr"/>
            <a:r>
              <a:rPr lang="en-US" sz="2400" b="1" dirty="0">
                <a:solidFill>
                  <a:srgbClr val="007A5E"/>
                </a:solidFill>
                <a:latin typeface="Calibri"/>
              </a:rPr>
              <a:t>360°</a:t>
            </a:r>
          </a:p>
          <a:p>
            <a:pPr algn="ctr"/>
            <a:r>
              <a:rPr lang="en-US" sz="1000" dirty="0">
                <a:solidFill>
                  <a:srgbClr val="444444"/>
                </a:solidFill>
                <a:latin typeface="Calibri"/>
              </a:rPr>
              <a:t>Employee Knowledge Capture</a:t>
            </a:r>
          </a:p>
        </p:txBody>
      </p:sp>
      <p:sp>
        <p:nvSpPr>
          <p:cNvPr id="13" name="Stat4"/>
          <p:cNvSpPr txBox="1"/>
          <p:nvPr/>
        </p:nvSpPr>
        <p:spPr>
          <a:xfrm>
            <a:off x="6757400" y="3143501"/>
            <a:ext cx="1929600" cy="580000"/>
          </a:xfrm>
          <a:prstGeom prst="roundRect">
            <a:avLst>
              <a:gd name="adj" fmla="val 10000"/>
            </a:avLst>
          </a:prstGeom>
          <a:solidFill>
            <a:srgbClr val="E8F5F1"/>
          </a:solidFill>
          <a:ln>
            <a:solidFill>
              <a:srgbClr val="007A5E"/>
            </a:solidFill>
          </a:ln>
        </p:spPr>
        <p:txBody>
          <a:bodyPr wrap="square" lIns="91425" tIns="91425" rIns="91425" bIns="91425" anchor="ctr">
            <a:normAutofit fontScale="85000" lnSpcReduction="20000"/>
          </a:bodyPr>
          <a:lstStyle/>
          <a:p>
            <a:pPr algn="ctr"/>
            <a:r>
              <a:rPr lang="en-US" sz="2400" b="1" dirty="0">
                <a:solidFill>
                  <a:srgbClr val="007A5E"/>
                </a:solidFill>
                <a:latin typeface="Calibri"/>
              </a:rPr>
              <a:t>0%</a:t>
            </a:r>
          </a:p>
          <a:p>
            <a:pPr algn="ctr"/>
            <a:r>
              <a:rPr lang="en-US" sz="1000" dirty="0">
                <a:solidFill>
                  <a:srgbClr val="444444"/>
                </a:solidFill>
                <a:latin typeface="Calibri"/>
              </a:rPr>
              <a:t>Knowledge Lost on Exit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tion - Garuda Yamato Stee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454</Words>
  <Application>Microsoft Office PowerPoint</Application>
  <PresentationFormat>On-screen Show (16:9)</PresentationFormat>
  <Paragraphs>69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Inter</vt:lpstr>
      <vt:lpstr>Inter SemiBold</vt:lpstr>
      <vt:lpstr>Arial</vt:lpstr>
      <vt:lpstr>Presentation - Garuda Yamato Steel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Bagus Hardiyanto</dc:creator>
  <cp:lastModifiedBy>Najib Fauzan</cp:lastModifiedBy>
  <cp:revision>2</cp:revision>
  <dcterms:modified xsi:type="dcterms:W3CDTF">2026-06-12T01:40:07Z</dcterms:modified>
</cp:coreProperties>
</file>